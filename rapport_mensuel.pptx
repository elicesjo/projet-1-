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744" r:id="rId2"/>
    <p:sldMasterId id="2147483720" r:id="rId3"/>
    <p:sldMasterId id="2147483732" r:id="rId4"/>
    <p:sldMasterId id="2147483708" r:id="rId5"/>
  </p:sldMasterIdLst>
  <p:notesMasterIdLst>
    <p:notesMasterId r:id="rId11"/>
  </p:notesMasterIdLst>
  <p:handoutMasterIdLst>
    <p:handoutMasterId r:id="rId12"/>
  </p:handoutMasterIdLst>
  <p:sldIdLst>
    <p:sldId id="258" r:id="rId6"/>
    <p:sldId id="260" r:id="rId7"/>
    <p:sldId id="261" r:id="rId8"/>
    <p:sldId id="257" r:id="rId9"/>
    <p:sldId id="25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F395E3D8-E72B-4F8C-8C52-482C27ECA3F9}">
          <p14:sldIdLst>
            <p14:sldId id="258"/>
            <p14:sldId id="260"/>
            <p14:sldId id="261"/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007C"/>
    <a:srgbClr val="F1230D"/>
    <a:srgbClr val="CF1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992CE-CB71-491C-ADF8-8AC6380AC754}" v="1" dt="2025-10-30T12:52:55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48" autoAdjust="0"/>
  </p:normalViewPr>
  <p:slideViewPr>
    <p:cSldViewPr snapToGrid="0">
      <p:cViewPr varScale="1">
        <p:scale>
          <a:sx n="75" d="100"/>
          <a:sy n="75" d="100"/>
        </p:scale>
        <p:origin x="1134" y="2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31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ELICES-DIEZ" userId="e9a6a41963ed185f" providerId="LiveId" clId="{994A1E47-22DD-4878-B7C9-9F437D9CF27D}"/>
    <pc:docChg chg="undo custSel modSld">
      <pc:chgData name="xavier ELICES-DIEZ" userId="e9a6a41963ed185f" providerId="LiveId" clId="{994A1E47-22DD-4878-B7C9-9F437D9CF27D}" dt="2025-10-31T14:52:51.480" v="89" actId="1076"/>
      <pc:docMkLst>
        <pc:docMk/>
      </pc:docMkLst>
      <pc:sldChg chg="modSp mod">
        <pc:chgData name="xavier ELICES-DIEZ" userId="e9a6a41963ed185f" providerId="LiveId" clId="{994A1E47-22DD-4878-B7C9-9F437D9CF27D}" dt="2025-10-31T14:52:33.086" v="83" actId="1076"/>
        <pc:sldMkLst>
          <pc:docMk/>
          <pc:sldMk cId="4217925917" sldId="256"/>
        </pc:sldMkLst>
        <pc:spChg chg="mod">
          <ac:chgData name="xavier ELICES-DIEZ" userId="e9a6a41963ed185f" providerId="LiveId" clId="{994A1E47-22DD-4878-B7C9-9F437D9CF27D}" dt="2025-10-30T12:53:17.861" v="59" actId="1076"/>
          <ac:spMkLst>
            <pc:docMk/>
            <pc:sldMk cId="4217925917" sldId="256"/>
            <ac:spMk id="5" creationId="{D5679744-E8D4-9AE2-D66A-F2C2E5B88FC9}"/>
          </ac:spMkLst>
        </pc:spChg>
        <pc:spChg chg="mod">
          <ac:chgData name="xavier ELICES-DIEZ" userId="e9a6a41963ed185f" providerId="LiveId" clId="{994A1E47-22DD-4878-B7C9-9F437D9CF27D}" dt="2025-10-30T12:51:03.432" v="51" actId="20577"/>
          <ac:spMkLst>
            <pc:docMk/>
            <pc:sldMk cId="4217925917" sldId="256"/>
            <ac:spMk id="6" creationId="{FA189917-E387-BD63-0605-66F263C5E2F1}"/>
          </ac:spMkLst>
        </pc:spChg>
        <pc:spChg chg="mod">
          <ac:chgData name="xavier ELICES-DIEZ" userId="e9a6a41963ed185f" providerId="LiveId" clId="{994A1E47-22DD-4878-B7C9-9F437D9CF27D}" dt="2025-10-31T14:52:33.086" v="83" actId="1076"/>
          <ac:spMkLst>
            <pc:docMk/>
            <pc:sldMk cId="4217925917" sldId="256"/>
            <ac:spMk id="12" creationId="{E3258782-7665-C1B4-6649-EFBC55237C03}"/>
          </ac:spMkLst>
        </pc:spChg>
        <pc:spChg chg="mod">
          <ac:chgData name="xavier ELICES-DIEZ" userId="e9a6a41963ed185f" providerId="LiveId" clId="{994A1E47-22DD-4878-B7C9-9F437D9CF27D}" dt="2025-10-30T12:50:59.386" v="49" actId="20577"/>
          <ac:spMkLst>
            <pc:docMk/>
            <pc:sldMk cId="4217925917" sldId="256"/>
            <ac:spMk id="13" creationId="{1F008127-2307-64E5-3C4B-B8939ECA50F1}"/>
          </ac:spMkLst>
        </pc:spChg>
        <pc:spChg chg="mod">
          <ac:chgData name="xavier ELICES-DIEZ" userId="e9a6a41963ed185f" providerId="LiveId" clId="{994A1E47-22DD-4878-B7C9-9F437D9CF27D}" dt="2025-10-30T12:48:55.321" v="23" actId="20577"/>
          <ac:spMkLst>
            <pc:docMk/>
            <pc:sldMk cId="4217925917" sldId="256"/>
            <ac:spMk id="16" creationId="{5A080AB6-CBB2-168D-349C-2B0C3EF8CBF8}"/>
          </ac:spMkLst>
        </pc:spChg>
        <pc:spChg chg="mod">
          <ac:chgData name="xavier ELICES-DIEZ" userId="e9a6a41963ed185f" providerId="LiveId" clId="{994A1E47-22DD-4878-B7C9-9F437D9CF27D}" dt="2025-10-30T12:49:14.661" v="45" actId="20577"/>
          <ac:spMkLst>
            <pc:docMk/>
            <pc:sldMk cId="4217925917" sldId="256"/>
            <ac:spMk id="22" creationId="{089BD65D-C165-BFDE-D651-4D70B78A6C02}"/>
          </ac:spMkLst>
        </pc:spChg>
      </pc:sldChg>
      <pc:sldChg chg="modSp mod">
        <pc:chgData name="xavier ELICES-DIEZ" userId="e9a6a41963ed185f" providerId="LiveId" clId="{994A1E47-22DD-4878-B7C9-9F437D9CF27D}" dt="2025-10-30T12:52:47.341" v="52" actId="20577"/>
        <pc:sldMkLst>
          <pc:docMk/>
          <pc:sldMk cId="3538313789" sldId="257"/>
        </pc:sldMkLst>
        <pc:spChg chg="mod">
          <ac:chgData name="xavier ELICES-DIEZ" userId="e9a6a41963ed185f" providerId="LiveId" clId="{994A1E47-22DD-4878-B7C9-9F437D9CF27D}" dt="2025-10-30T12:52:47.341" v="52" actId="20577"/>
          <ac:spMkLst>
            <pc:docMk/>
            <pc:sldMk cId="3538313789" sldId="257"/>
            <ac:spMk id="4" creationId="{6D18716C-3D87-3FF2-B667-A8B80B7F9EE7}"/>
          </ac:spMkLst>
        </pc:spChg>
        <pc:spChg chg="mod">
          <ac:chgData name="xavier ELICES-DIEZ" userId="e9a6a41963ed185f" providerId="LiveId" clId="{994A1E47-22DD-4878-B7C9-9F437D9CF27D}" dt="2025-10-30T12:46:41.551" v="16" actId="1076"/>
          <ac:spMkLst>
            <pc:docMk/>
            <pc:sldMk cId="3538313789" sldId="257"/>
            <ac:spMk id="5" creationId="{7219FDD3-811B-A89C-C8EB-3D5C3758D5F7}"/>
          </ac:spMkLst>
        </pc:spChg>
        <pc:spChg chg="mod">
          <ac:chgData name="xavier ELICES-DIEZ" userId="e9a6a41963ed185f" providerId="LiveId" clId="{994A1E47-22DD-4878-B7C9-9F437D9CF27D}" dt="2025-10-30T12:46:41.551" v="16" actId="1076"/>
          <ac:spMkLst>
            <pc:docMk/>
            <pc:sldMk cId="3538313789" sldId="257"/>
            <ac:spMk id="6" creationId="{4635B66B-9FE0-159E-6F59-A43A861CA5DB}"/>
          </ac:spMkLst>
        </pc:spChg>
        <pc:spChg chg="mod">
          <ac:chgData name="xavier ELICES-DIEZ" userId="e9a6a41963ed185f" providerId="LiveId" clId="{994A1E47-22DD-4878-B7C9-9F437D9CF27D}" dt="2025-10-30T12:46:50.368" v="17" actId="1076"/>
          <ac:spMkLst>
            <pc:docMk/>
            <pc:sldMk cId="3538313789" sldId="257"/>
            <ac:spMk id="9" creationId="{31CD728A-A218-FF63-103A-EAAFEF288088}"/>
          </ac:spMkLst>
        </pc:spChg>
        <pc:spChg chg="mod">
          <ac:chgData name="xavier ELICES-DIEZ" userId="e9a6a41963ed185f" providerId="LiveId" clId="{994A1E47-22DD-4878-B7C9-9F437D9CF27D}" dt="2025-10-30T12:47:01.530" v="19" actId="1076"/>
          <ac:spMkLst>
            <pc:docMk/>
            <pc:sldMk cId="3538313789" sldId="257"/>
            <ac:spMk id="10" creationId="{E08D7FBB-C478-77A8-A8FC-06ACC802527E}"/>
          </ac:spMkLst>
        </pc:spChg>
        <pc:spChg chg="mod">
          <ac:chgData name="xavier ELICES-DIEZ" userId="e9a6a41963ed185f" providerId="LiveId" clId="{994A1E47-22DD-4878-B7C9-9F437D9CF27D}" dt="2025-10-30T12:46:50.368" v="17" actId="1076"/>
          <ac:spMkLst>
            <pc:docMk/>
            <pc:sldMk cId="3538313789" sldId="257"/>
            <ac:spMk id="25" creationId="{0B5C6D39-6A7C-8629-BAB4-BA6936EA1059}"/>
          </ac:spMkLst>
        </pc:spChg>
        <pc:spChg chg="mod">
          <ac:chgData name="xavier ELICES-DIEZ" userId="e9a6a41963ed185f" providerId="LiveId" clId="{994A1E47-22DD-4878-B7C9-9F437D9CF27D}" dt="2025-10-30T12:46:50.368" v="17" actId="1076"/>
          <ac:spMkLst>
            <pc:docMk/>
            <pc:sldMk cId="3538313789" sldId="257"/>
            <ac:spMk id="29" creationId="{F52F6C53-67EF-BDF6-AF19-BFC3AACFA302}"/>
          </ac:spMkLst>
        </pc:spChg>
        <pc:picChg chg="mod">
          <ac:chgData name="xavier ELICES-DIEZ" userId="e9a6a41963ed185f" providerId="LiveId" clId="{994A1E47-22DD-4878-B7C9-9F437D9CF27D}" dt="2025-10-30T12:45:52.690" v="8" actId="1076"/>
          <ac:picMkLst>
            <pc:docMk/>
            <pc:sldMk cId="3538313789" sldId="257"/>
            <ac:picMk id="15" creationId="{ACF2D831-7FFB-0C79-AEF5-37665BCAC9CA}"/>
          </ac:picMkLst>
        </pc:picChg>
      </pc:sldChg>
      <pc:sldChg chg="modSp mod">
        <pc:chgData name="xavier ELICES-DIEZ" userId="e9a6a41963ed185f" providerId="LiveId" clId="{994A1E47-22DD-4878-B7C9-9F437D9CF27D}" dt="2025-10-31T14:52:51.480" v="89" actId="1076"/>
        <pc:sldMkLst>
          <pc:docMk/>
          <pc:sldMk cId="2260234746" sldId="258"/>
        </pc:sldMkLst>
        <pc:spChg chg="mod">
          <ac:chgData name="xavier ELICES-DIEZ" userId="e9a6a41963ed185f" providerId="LiveId" clId="{994A1E47-22DD-4878-B7C9-9F437D9CF27D}" dt="2025-10-31T14:52:51.480" v="89" actId="1076"/>
          <ac:spMkLst>
            <pc:docMk/>
            <pc:sldMk cId="2260234746" sldId="258"/>
            <ac:spMk id="6" creationId="{00000000-0000-0000-0000-000000000000}"/>
          </ac:spMkLst>
        </pc:spChg>
      </pc:sldChg>
      <pc:sldChg chg="modSp mod">
        <pc:chgData name="xavier ELICES-DIEZ" userId="e9a6a41963ed185f" providerId="LiveId" clId="{994A1E47-22DD-4878-B7C9-9F437D9CF27D}" dt="2025-10-31T12:51:39.731" v="61" actId="20577"/>
        <pc:sldMkLst>
          <pc:docMk/>
          <pc:sldMk cId="668342180" sldId="260"/>
        </pc:sldMkLst>
        <pc:spChg chg="mod">
          <ac:chgData name="xavier ELICES-DIEZ" userId="e9a6a41963ed185f" providerId="LiveId" clId="{994A1E47-22DD-4878-B7C9-9F437D9CF27D}" dt="2025-10-31T12:51:39.731" v="61" actId="20577"/>
          <ac:spMkLst>
            <pc:docMk/>
            <pc:sldMk cId="668342180" sldId="260"/>
            <ac:spMk id="24" creationId="{CA392827-7AE9-6D7E-9499-305F8EBBF153}"/>
          </ac:spMkLst>
        </pc:spChg>
      </pc:sldChg>
      <pc:sldChg chg="addSp delSp modSp mod">
        <pc:chgData name="xavier ELICES-DIEZ" userId="e9a6a41963ed185f" providerId="LiveId" clId="{994A1E47-22DD-4878-B7C9-9F437D9CF27D}" dt="2025-10-30T12:43:29.777" v="5" actId="20577"/>
        <pc:sldMkLst>
          <pc:docMk/>
          <pc:sldMk cId="1525931646" sldId="261"/>
        </pc:sldMkLst>
        <pc:spChg chg="add del mod">
          <ac:chgData name="xavier ELICES-DIEZ" userId="e9a6a41963ed185f" providerId="LiveId" clId="{994A1E47-22DD-4878-B7C9-9F437D9CF27D}" dt="2025-10-30T12:43:29.777" v="5" actId="20577"/>
          <ac:spMkLst>
            <pc:docMk/>
            <pc:sldMk cId="1525931646" sldId="261"/>
            <ac:spMk id="31" creationId="{FB39B45B-3002-F9C8-D8C2-8A95DAD91719}"/>
          </ac:spMkLst>
        </pc:spChg>
        <pc:spChg chg="mod">
          <ac:chgData name="xavier ELICES-DIEZ" userId="e9a6a41963ed185f" providerId="LiveId" clId="{994A1E47-22DD-4878-B7C9-9F437D9CF27D}" dt="2025-10-30T12:43:22.987" v="1" actId="20577"/>
          <ac:spMkLst>
            <pc:docMk/>
            <pc:sldMk cId="1525931646" sldId="261"/>
            <ac:spMk id="33" creationId="{A4B28CC5-A3AB-9287-6424-683146FE3FF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54FAAF5-DB99-B185-0406-725DB2274D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F54F5C-F418-F411-BD5B-AB9E694BAB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60F0-6B89-4594-8E75-5B648CCB8E72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1BB79A-0204-7DAD-7584-B92A249582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FA92DA-6420-0B18-E49B-47E12B7B52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98944-62CB-40CD-998A-8D1416FAE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8585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2E44D-B8DF-4D2E-8B20-288A936D622B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0F8D5-907B-4251-B209-C8D0AA0B49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5436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0F8D5-907B-4251-B209-C8D0AA0B49A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953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Ce qu'on DEVRAIT faire</a:t>
            </a:r>
            <a:r>
              <a:rPr lang="fr-FR" dirty="0"/>
              <a:t> avec une conversion normale (1 258K€)</a:t>
            </a:r>
          </a:p>
          <a:p>
            <a:r>
              <a:rPr lang="fr-FR" b="1" dirty="0"/>
              <a:t>Ce qu'on fait réellement</a:t>
            </a:r>
            <a:r>
              <a:rPr lang="fr-FR" dirty="0"/>
              <a:t> (670K€)</a:t>
            </a:r>
          </a:p>
          <a:p>
            <a:r>
              <a:rPr lang="fr-FR" b="1" dirty="0"/>
              <a:t>Manque = 588K€/mois</a:t>
            </a:r>
            <a:r>
              <a:rPr lang="fr-FR" dirty="0"/>
              <a:t>, pas 335K€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0F8D5-907B-4251-B209-C8D0AA0B49A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947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0F8D5-907B-4251-B209-C8D0AA0B49A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747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b="1" dirty="0">
                <a:latin typeface="Arial" panose="020B0604020202020204" pitchFamily="34" charset="0"/>
              </a:rPr>
              <a:t>Sur 520k visites avec 5% conversion</a:t>
            </a:r>
            <a:r>
              <a:rPr lang="fr-FR" altLang="fr-FR" dirty="0">
                <a:latin typeface="Arial" panose="020B0604020202020204" pitchFamily="34" charset="0"/>
              </a:rPr>
              <a:t> : 26 000 commandes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b="1" dirty="0">
                <a:latin typeface="Arial" panose="020B0604020202020204" pitchFamily="34" charset="0"/>
              </a:rPr>
              <a:t>Gain potentiel</a:t>
            </a:r>
            <a:r>
              <a:rPr lang="fr-FR" altLang="fr-FR" dirty="0">
                <a:latin typeface="Arial" panose="020B0604020202020204" pitchFamily="34" charset="0"/>
              </a:rPr>
              <a:t> : 26 000 × 7€ = </a:t>
            </a:r>
            <a:r>
              <a:rPr lang="fr-FR" altLang="fr-FR" b="1" dirty="0">
                <a:latin typeface="Arial" panose="020B0604020202020204" pitchFamily="34" charset="0"/>
              </a:rPr>
              <a:t>182K€/an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</a:p>
          <a:p>
            <a:r>
              <a:rPr lang="fr-FR" dirty="0"/>
              <a:t>Écart % = [(Valeur haute - Valeur basse) / Valeur basse] × 100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0F8D5-907B-4251-B209-C8D0AA0B49A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037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Variabilité qui augmente – </a:t>
            </a:r>
            <a:r>
              <a:rPr lang="fr-FR" dirty="0" err="1"/>
              <a:t>Mediane</a:t>
            </a:r>
            <a:r>
              <a:rPr lang="fr-FR" dirty="0"/>
              <a:t> qui diminue / AUTOROUTE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0F8D5-907B-4251-B209-C8D0AA0B49A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85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ED9E3-C791-B0A8-6743-D07FC2313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E6DD995-85FF-CD99-D904-54693AE9D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420065-BB90-6B32-FA04-E8E769BF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C44AB3-E34F-AC46-8068-942037D78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19566C-537D-4F89-691A-2BCD8199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226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AA468-6EB7-C8B7-BC16-9253C1DE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4F30FA-C759-E592-82AB-8F9041CFC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97A60B-1D61-2DC9-4992-2DBFD175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59A9FF-9CED-5410-509E-A0FA8925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293D1F-D644-A31D-9015-2FDAD71C9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992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E5957-FBE4-CBB6-1389-89B95BE9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FDD663-9D32-568B-A368-44207677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D4BD31-FE3C-33B0-BC37-BEF33D82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96BB8D-3D97-E0CB-A855-F587BAB1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E16EEB-1B92-F915-1BB7-37D3F07A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14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14C66-E54A-5583-BBC9-2C21D604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438497-561E-5316-09D8-E7B8E8112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3F8B87-F287-F0DF-79B0-F9027659F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D8D632-49A7-EB05-428D-45A5E835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C7A782-155C-9DD6-C2BF-BE963906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85F0ED-3B6A-097D-B4D6-36F96CAA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10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4B4B1A-8E6C-F4CF-8C22-2174BA42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22FE8D-C8A2-DE1A-7D00-79272FD60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B7F758-C4CE-075A-455A-DCFA5BAD6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E9C5F6-A555-AE5F-1FD1-104DA05EC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C3E8A25-586F-BD77-2F8E-AB6F0F492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7E705CB-624E-A66A-1034-0EF63FE9F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E6D48-0FA2-1713-26CE-C37E2B32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61FE58-4452-B380-D453-A8626278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377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879864-3BB6-9179-AA18-7E06DEC8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2DDEDC-45D7-C15D-583C-27D4612E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4FE7C1-DE51-C8A0-369B-E854D0F6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624897-69B8-00F8-9CDF-1FBDED8F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10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367C07-4732-281A-B417-7D4141BB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907AB9-8938-4994-A46D-5DFC4B5C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324813-C1AE-D624-6B42-C89B1AA5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4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E3F35-D7A1-306A-2D04-0E8AAE20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FE2C1B-E22F-10DF-7277-9151045E1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F20145-E76C-FF92-678C-B61BA722E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0FC27A-0997-7B58-1062-891872025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8581F8-4FA5-DEEE-277D-D5739E20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43031B-F9C1-66DE-8B68-A97E8DBE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99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F9FE7-19A2-195B-D2A1-BCC9A105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95AE20E-A10B-3D88-4C96-00AB7F6D3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F86C606-9119-6D9C-5E53-7BEF01FD1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70F99C-CA14-114C-E738-083FB080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A771A3-0699-DCCE-F109-9B477308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D404F0-E1F7-3123-149F-311D3BD6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97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50136-CEF3-7676-B1C2-6ED21D55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5E1008-027E-6685-3F1D-0A0A8BFF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77D822-A71D-B5DE-3FDE-6B70553B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7BA457-598C-0145-97E6-3728B013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6AE7B-EC3C-9760-DDD6-E3DE3C0D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81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A00A74A-2B36-B880-0771-E4603080E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A69D0BE-2255-DF9A-C6F3-BEBAD3883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23B040-CD82-825D-1A28-838EC6D2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37C88-0D46-00D9-517F-CF1D4A6E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8E15E1-B667-692F-7FFB-53E9FB61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4757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4D785-CDF1-DAC7-1053-560CD03A1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6BFF68-B571-BCEF-71AC-1F64D2D61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2300E2-983E-1EF3-B033-A0606092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FE3184-8BBA-9DC5-94E5-3D807757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C8E249-A638-8DDB-0453-95DB1FF4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1368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418D1-8DA1-B6A4-E258-EECB1DB0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143E1E-1192-A296-C6FF-63FE523A0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2CD575-7ECD-1624-6AB9-6A912F4EB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D84064-76EC-4AC9-6D69-3A5F15CA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8281B7-798A-A40B-033B-D12D92D6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259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7E6EBD-652A-21A5-AA2D-0149FBF4E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F8AA94-AA7D-08E7-802E-B7934CBB0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462F10-092E-852C-EE2E-F04E535B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16FCAC-E37F-0B35-D421-D299AC85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2B2DD7-F2DC-E4DE-CD4E-DFEFE649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87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0FD369-BE5D-3A97-8AE1-A452BB66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A75C40-3BA9-F0EF-83B5-0E946CDF4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4BF82-B023-B9B2-0F56-D899F0B7C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EDA89A-1A13-F6CC-942A-EB8C861D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B4C3EB-4EA1-0625-B613-08A4D098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609BD9-95D7-ECEB-C7A0-BF8D1D85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118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EBDF56-EB5E-71FD-5EDE-5281137E4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52C2AB-FDD9-104B-CF05-759A308A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0827F4F-1AC9-69BA-0771-FDC90478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6043534-60B4-8A0D-90C0-91EA9FF456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6A3D09F-287B-1F6C-ED1E-C44720025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6641B01-F3EF-76DD-76B7-3C562F62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2AE400A-26C0-ACF3-09FA-481C56DB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9D8FAB8-691E-6B80-9A1C-369CF607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403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D164A6-0A1F-7D2F-CBD2-9E8EB9D02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9D619D-6802-45D9-897F-62B8608B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80CFE4-394C-20F3-AD5A-88D7E69E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2B6076-CF25-FE17-4BF0-C2BA559A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632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360CFC-77BC-571A-7A84-CA26A6D8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D40055-D77D-29AC-E6ED-324A6B18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AE5F1A-8565-AA1A-57FB-164BED12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408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3A3D9-2EB7-719A-41E8-18CC7BD50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03FA08-E46F-984F-588B-75BA0918A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831AF5-2EAF-F703-32B6-1CB8CA304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BD57C7-E08D-37E9-DDD7-C0C6C729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1C2FF1-0288-201F-4C13-F425C9E6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7E5F74-8C2D-CC1D-F754-114CF5EC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98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008D17-0E40-820F-F7B4-1323B87E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77D0BEA-4322-94F8-F240-6CE3DB282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4619DE-1CD6-B210-D994-D293414E6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1B1D01-0601-DB5F-EC17-5E589AAD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031B94-6946-AFFD-64C9-F35DACF43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7A081A-4E22-9523-A3A1-D7DBD650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2918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2134FC-D689-896C-5C82-A447B8AF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C1EECC-44E8-AA37-797D-23B20AB54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29309C-1D5B-B2A8-1591-9CF3F44E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546A53-8233-1EEB-E009-7F7DCD2C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BA368B-908A-0190-D28D-2DC5A68D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659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DDFD25E-92F6-B4E3-582B-EBC118A0D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2699A4-DEB1-411D-2C93-7707E4B05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AFAFBA-C054-D04E-FBFF-D5B3DA9C6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F83DBF-C80D-2252-2475-E41B5115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8B258-43B3-B2D8-3536-AC70D26D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808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2F68D-3E29-E1DB-34A1-768FF991B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74DCB9-CE90-8325-0399-D5AE2F90C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551E06-547E-11B4-D7BB-4CA5B9ED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1D4956-483B-490C-0BA2-4B866BB5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6D5EDC-A1D5-CDA2-65CE-F58E487C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8880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D362A-EA59-351A-0E8E-EF7ADF14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B2C927-D8D7-76E0-DEBE-AE1E6D704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407451-A31A-BC9F-1588-8704771F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84EF1B-9FC4-0A37-0C52-DFBD452C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6BCB34-AD5C-3F9A-F800-16D307FF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4417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7E8C6-7F6F-9643-99C3-1B4E7409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596DAB-BDF4-3C81-D685-CC4210815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29DCF3-10F4-05AC-88CE-9756714D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1BEC4B-90D5-63C2-FFC0-E33BD41B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5B0D29-C4A7-2559-CD99-E8C996E8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882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BB455-823A-FB6B-98C9-146B22DB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2185B1-B666-5666-4167-9EA805E74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6F7168-FD4B-C1DE-8160-32049D7C0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4179A7-2CDF-DEA2-11FF-63E7B508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65F0FE-9C4B-6E03-5721-83D55C8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E804C6-EEFA-2A7E-A8A3-BC4C1691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3544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FED1E-F84B-50D8-2953-926E03A2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F75FC5-E115-F223-0AB3-316DB03A8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B51D9C-287D-E1FA-E026-005F1724A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970D2D-673C-14A8-58E1-ABAABE055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32D5358-3B05-0B31-D5D4-B03560151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0082B46-98F6-C043-E44D-5A3901CB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1D0FD81-5CC3-5269-94D6-32741906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FF07A84-9712-AD50-C606-A779C244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7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6E90E-3DB1-3FE1-F4C3-FB77B5A8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7EFDBE-93F5-4A2D-43D8-BBEC28C7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46116B-07BB-B8CD-496A-DBA5CC08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3DF34F-C0F6-2578-F57D-DDA7A6F8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592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2E0A77-80C7-7B58-95AF-75299B49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EC371A-D2C4-E75F-48E0-D23FC6593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190D9C-B26E-05CA-A648-D762A157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353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630752-D330-1ED3-C801-3A653898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34C08-EF08-B54B-64D7-E7E50E377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CACC6A-FC58-30CA-182D-2169E95D5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0EA0B6-2B31-0E05-6F42-6E5E02563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2235A0-CB29-F0F9-CF4C-7E4BF9C1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848F4B-5981-BA5A-3121-69B6CAA9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21790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4A27B-A726-43E7-65EF-93E2F9C3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5BB914C-52F9-A03C-6C58-94FC358EF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C9F8DC-0E02-E8BD-D0ED-8DCE4BED0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9C3421-825B-8391-6993-BFF9177E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BEA109-DA37-B799-2385-6660B83B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731C7E-78A8-73B4-E071-43AEFF7A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0202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E47FC6-0027-1B6A-B25E-876AE1B6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C2A67C-2CD3-07B0-E2FB-928864026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C914AF-BABA-C53F-D057-98C734D0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6E9151-DF0E-1A6E-1AE1-BC619662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24FF7D-9CB9-E390-50AF-786B9BB7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2698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31C874-E516-8897-025A-225F28345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23A342F-9D4C-D8AD-965F-6F32A7D44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243801-710E-2085-F2AD-987CC555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A3CED2-614B-A953-A45C-F2307666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BAF2BB-2F6F-4CF2-7A49-C2E7D5DB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5811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2F68D-3E29-E1DB-34A1-768FF991B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74DCB9-CE90-8325-0399-D5AE2F90C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551E06-547E-11B4-D7BB-4CA5B9ED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1D4956-483B-490C-0BA2-4B866BB5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6D5EDC-A1D5-CDA2-65CE-F58E487C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4288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D362A-EA59-351A-0E8E-EF7ADF14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B2C927-D8D7-76E0-DEBE-AE1E6D704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407451-A31A-BC9F-1588-8704771F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84EF1B-9FC4-0A37-0C52-DFBD452C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6BCB34-AD5C-3F9A-F800-16D307FF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4361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7E8C6-7F6F-9643-99C3-1B4E7409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596DAB-BDF4-3C81-D685-CC4210815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29DCF3-10F4-05AC-88CE-9756714D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1BEC4B-90D5-63C2-FFC0-E33BD41B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5B0D29-C4A7-2559-CD99-E8C996E8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358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BB455-823A-FB6B-98C9-146B22DB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2185B1-B666-5666-4167-9EA805E74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6F7168-FD4B-C1DE-8160-32049D7C0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4179A7-2CDF-DEA2-11FF-63E7B508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65F0FE-9C4B-6E03-5721-83D55C8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E804C6-EEFA-2A7E-A8A3-BC4C1691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4893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FED1E-F84B-50D8-2953-926E03A2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F75FC5-E115-F223-0AB3-316DB03A8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B51D9C-287D-E1FA-E026-005F1724A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970D2D-673C-14A8-58E1-ABAABE055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32D5358-3B05-0B31-D5D4-B03560151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0082B46-98F6-C043-E44D-5A3901CB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1D0FD81-5CC3-5269-94D6-32741906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FF07A84-9712-AD50-C606-A779C244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5198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6E90E-3DB1-3FE1-F4C3-FB77B5A8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7EFDBE-93F5-4A2D-43D8-BBEC28C7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46116B-07BB-B8CD-496A-DBA5CC08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3DF34F-C0F6-2578-F57D-DDA7A6F8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3288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2E0A77-80C7-7B58-95AF-75299B49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EC371A-D2C4-E75F-48E0-D23FC6593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190D9C-B26E-05CA-A648-D762A157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7266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630752-D330-1ED3-C801-3A653898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34C08-EF08-B54B-64D7-E7E50E377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CACC6A-FC58-30CA-182D-2169E95D5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0EA0B6-2B31-0E05-6F42-6E5E02563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2235A0-CB29-F0F9-CF4C-7E4BF9C1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848F4B-5981-BA5A-3121-69B6CAA9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5924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4A27B-A726-43E7-65EF-93E2F9C3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5BB914C-52F9-A03C-6C58-94FC358EF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C9F8DC-0E02-E8BD-D0ED-8DCE4BED0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9C3421-825B-8391-6993-BFF9177E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BEA109-DA37-B799-2385-6660B83B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731C7E-78A8-73B4-E071-43AEFF7A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8320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E47FC6-0027-1B6A-B25E-876AE1B6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C2A67C-2CD3-07B0-E2FB-928864026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C914AF-BABA-C53F-D057-98C734D0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6E9151-DF0E-1A6E-1AE1-BC619662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24FF7D-9CB9-E390-50AF-786B9BB7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2331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31C874-E516-8897-025A-225F28345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23A342F-9D4C-D8AD-965F-6F32A7D44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243801-710E-2085-F2AD-987CC555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A3CED2-614B-A953-A45C-F2307666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BAF2BB-2F6F-4CF2-7A49-C2E7D5DB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329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3763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0243E6-44E0-F646-5F30-E1469FE5E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F9B637-A64F-3A1A-6FE9-4000F774E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6C2D77-C461-CF80-4A15-1DAF03B0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5E81FC-3A65-3EFB-722E-CAD3CE77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E814D8-E905-2328-E0A1-72ADD95D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6950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E6502-E7E9-9A8D-CD97-A7474589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02C4CD-A5C1-2E98-CBB2-CDC0A2A20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FD8228-1B48-D04B-5052-B2CA277F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7B7690-23FA-BC5A-AEAE-FF950FBC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8EDA87-DCC5-EF8E-FD98-5102A727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3931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B26F5-9E5B-63C1-5395-3FD221E6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F19F94-C856-DC56-CBEB-BC74FD525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CEDF3D-89DC-B080-B04D-EDFB2260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7C8ACA-E5A8-C09B-6E5D-642A16E8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05A307-17ED-A96C-A0EA-F1F86B28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3155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43305-19A0-58B1-9284-090CBD7B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EE1B5C-8503-C4C7-56D7-72E420585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D917CA-FF05-ABB6-A6F1-80EFD063D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A04147-CDFE-4849-AFCF-C6867A37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2F2C57-646F-265A-6255-E6DF6504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7E5114-9A83-58B6-6D86-AC983032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5830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0F61B-93B2-C115-96BE-662D1D82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394935-7620-D2F1-7431-57095585B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6AED01-376C-F15B-743C-A8FBCE9B9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96B560-0AC8-8D4B-10C3-5658627BA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038419A-DD9A-ACEC-0816-7CB46C6E7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335F68-A4BF-4C7A-C531-1A047EF6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0DAC0D-5B89-608F-3CE5-8DCA8EC4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1652CC-23C2-3DF4-0346-504D03EA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5520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DA346-A069-4BE0-93D0-BEDB96E7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350AD9-10C8-439B-2BCB-E133BEA8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E29B0E-9C63-D47F-8AAA-E6BE3406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0833DE-4B17-D7FA-C621-01223EBB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4100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8EAB8B-BD0C-5693-5D3D-FF3C6820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FA79F1-3956-1632-EC65-71981CD2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D6ED22-0A01-0B4D-97FA-8696C1BF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4493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4E53B0-2E17-D5BB-686B-4B7A411C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78385E-485F-36D1-7CF3-15AF8A26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8BE601-90DA-50A2-2C0A-ABE27561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E3B7C5-5307-0719-7BB6-82B405E7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2A6962-0F2A-73CB-5F3A-DA014D3F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1EC8F5-37F9-1A68-B80B-B21CEA68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3493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79AA2-4C82-2C43-3946-778DF6CB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14520B7-AB56-C70E-648C-4DC288F0E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EF64A3-0A37-D65C-AD36-D481B9F6B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80D265-D541-485B-319F-FFEB5951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1ACCAE-25A8-BDDD-CF36-3FD1E8B3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735F9C-EEF4-AF26-C513-4056D9BF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972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69738-F119-F904-BA38-CF0547FD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63FB86-7B2D-112C-7414-F7C0A63A7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3DA943-E7FC-D665-46A3-CE591D9E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11441-C5D4-2C4A-6192-DCC815C6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0CA22C-781D-E620-6B0F-0D205812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5646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F31C4A-6CC8-DEDF-FA0C-BCC80FAA8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DFCDF7-CAC2-CCDB-BC17-C6262BEBB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35A37A-AD16-DD54-1331-B6B30084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5811D9-5B46-2D84-F610-E15209C6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F9C6EB-296E-9E7E-D31D-F1A26277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59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AA94BF6-2099-FCE0-89ED-65E3C218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80E2E-E6D0-48DE-A6E0-211FA3DE4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E34216-394E-179B-AA10-F34D8149E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733FCC-A9C7-9904-EDC5-53E3F9885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0DB207-ED2A-5608-22AB-BB23CC148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9D767-5679-44F6-93F5-3D8BA1EA10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34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267DA27-771B-30E7-D145-CBBC86E4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F35D01-2BBA-7CDD-DD40-C136ADE3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72AE80-FDEE-0792-58BF-8973DDB1D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885A95-6781-F74D-5587-FEC5D452A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F02AE2-0B3B-C2E5-3CA6-9FFB838B4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2B7CA-F33C-4F0A-8548-BD520FB0A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34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6703E9-8150-1EE9-13BA-728DDE46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BA01F1-1491-8969-9216-625291052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151756-6102-CFB1-A01D-C2D07C223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E3AF64-110F-57F5-FA4A-8D174C8E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591010-F178-01AA-9C85-6C8BB34F6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15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6703E9-8150-1EE9-13BA-728DDE46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BA01F1-1491-8969-9216-625291052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151756-6102-CFB1-A01D-C2D07C223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E3AF64-110F-57F5-FA4A-8D174C8E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591010-F178-01AA-9C85-6C8BB34F6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7A9C0-9EE4-4DBD-A6B9-480D0D552E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3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6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B40FD6-4ACF-0D66-F08C-744407E5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AC93C6-C43F-7BE8-A0E8-EB2D96164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7B7C31-3D30-0BEA-2685-BCB90AA80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0C5250-F098-3EE7-9DC3-3E0709DF3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CC7CDB-A12E-7EAF-8E38-0F7F5A690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663BA-BDEC-444D-9C9F-B55951DC2E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46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9502-BAD2-CE43-87F1-4D09E9BD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3">
            <a:extLst>
              <a:ext uri="{FF2B5EF4-FFF2-40B4-BE49-F238E27FC236}">
                <a16:creationId xmlns:a16="http://schemas.microsoft.com/office/drawing/2014/main" id="{92C28C2E-6318-E6A8-6272-1AB655688BD5}"/>
              </a:ext>
            </a:extLst>
          </p:cNvPr>
          <p:cNvSpPr/>
          <p:nvPr/>
        </p:nvSpPr>
        <p:spPr>
          <a:xfrm>
            <a:off x="8391382" y="2815656"/>
            <a:ext cx="2804418" cy="1518984"/>
          </a:xfrm>
          <a:prstGeom prst="roundRect">
            <a:avLst>
              <a:gd name="adj" fmla="val 427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-3,6%</a:t>
            </a:r>
          </a:p>
        </p:txBody>
      </p:sp>
      <p:pic>
        <p:nvPicPr>
          <p:cNvPr id="29" name="Image 28" descr="Une image contenant texte, capture d’écran, lign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7E3EA45F-F6A4-B0F0-61AA-C1A71B2EF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832"/>
            <a:ext cx="8391382" cy="6526633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F9C76978-4DAF-A1FC-1F3E-69DE0AB85CC8}"/>
              </a:ext>
            </a:extLst>
          </p:cNvPr>
          <p:cNvSpPr/>
          <p:nvPr/>
        </p:nvSpPr>
        <p:spPr>
          <a:xfrm>
            <a:off x="8396343" y="4534529"/>
            <a:ext cx="2804418" cy="1518984"/>
          </a:xfrm>
          <a:prstGeom prst="roundRect">
            <a:avLst>
              <a:gd name="adj" fmla="val 427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479C98-FE75-4FF5-1147-C108EE3232EE}"/>
              </a:ext>
            </a:extLst>
          </p:cNvPr>
          <p:cNvSpPr/>
          <p:nvPr/>
        </p:nvSpPr>
        <p:spPr>
          <a:xfrm>
            <a:off x="8391382" y="1077479"/>
            <a:ext cx="2807834" cy="1518984"/>
          </a:xfrm>
          <a:prstGeom prst="roundRect">
            <a:avLst>
              <a:gd name="adj" fmla="val 427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0" y="-64019"/>
            <a:ext cx="12192000" cy="8001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FD064CB-C79B-D911-2238-4C19865E96B1}"/>
              </a:ext>
            </a:extLst>
          </p:cNvPr>
          <p:cNvSpPr txBox="1"/>
          <p:nvPr/>
        </p:nvSpPr>
        <p:spPr>
          <a:xfrm>
            <a:off x="-1276462" y="63500"/>
            <a:ext cx="11258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fr-F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 des ventes par catégorie de produit</a:t>
            </a:r>
          </a:p>
        </p:txBody>
      </p:sp>
      <p:sp>
        <p:nvSpPr>
          <p:cNvPr id="7" name="Espace réservé du numéro de diapositive 8">
            <a:extLst>
              <a:ext uri="{FF2B5EF4-FFF2-40B4-BE49-F238E27FC236}">
                <a16:creationId xmlns:a16="http://schemas.microsoft.com/office/drawing/2014/main" id="{9BA9F0E9-7036-AA4B-4711-00EE5DDE75F6}"/>
              </a:ext>
            </a:extLst>
          </p:cNvPr>
          <p:cNvSpPr txBox="1">
            <a:spLocks/>
          </p:cNvSpPr>
          <p:nvPr/>
        </p:nvSpPr>
        <p:spPr>
          <a:xfrm>
            <a:off x="8610600" y="63999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Text 3"/>
          <p:cNvSpPr/>
          <p:nvPr/>
        </p:nvSpPr>
        <p:spPr>
          <a:xfrm>
            <a:off x="8809674" y="1514061"/>
            <a:ext cx="2109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27AE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35%</a:t>
            </a:r>
            <a:endParaRPr lang="en-US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5"/>
          <p:cNvSpPr/>
          <p:nvPr/>
        </p:nvSpPr>
        <p:spPr>
          <a:xfrm>
            <a:off x="8288682" y="4653981"/>
            <a:ext cx="3009818" cy="403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 réussie</a:t>
            </a:r>
          </a:p>
        </p:txBody>
      </p:sp>
      <p:sp>
        <p:nvSpPr>
          <p:cNvPr id="8" name="Text 6"/>
          <p:cNvSpPr/>
          <p:nvPr/>
        </p:nvSpPr>
        <p:spPr>
          <a:xfrm>
            <a:off x="8366843" y="5128527"/>
            <a:ext cx="2733074" cy="65199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Biens de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conso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: 30%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100"/>
              </a:lnSpc>
              <a:buSzPct val="100000"/>
            </a:pP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Nourriture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: 0% → 70%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7D9C5C-0D02-95E5-D8A7-FDE0781D9C74}"/>
              </a:ext>
            </a:extLst>
          </p:cNvPr>
          <p:cNvSpPr txBox="1"/>
          <p:nvPr/>
        </p:nvSpPr>
        <p:spPr>
          <a:xfrm>
            <a:off x="8153808" y="2211995"/>
            <a:ext cx="3421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un an (495K€ à 670K€)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1520E19-23F7-CE36-8484-B62026B0E920}"/>
              </a:ext>
            </a:extLst>
          </p:cNvPr>
          <p:cNvSpPr txBox="1"/>
          <p:nvPr/>
        </p:nvSpPr>
        <p:spPr>
          <a:xfrm>
            <a:off x="8522737" y="1145496"/>
            <a:ext cx="2541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 global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86CD0D5-5F2B-4AEA-919F-E15C727DA8A3}"/>
              </a:ext>
            </a:extLst>
          </p:cNvPr>
          <p:cNvSpPr txBox="1"/>
          <p:nvPr/>
        </p:nvSpPr>
        <p:spPr>
          <a:xfrm>
            <a:off x="8540339" y="2853386"/>
            <a:ext cx="253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Choix stratégique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6DDB6F6-165F-AF79-1641-B6F101424453}"/>
              </a:ext>
            </a:extLst>
          </p:cNvPr>
          <p:cNvSpPr txBox="1"/>
          <p:nvPr/>
        </p:nvSpPr>
        <p:spPr>
          <a:xfrm>
            <a:off x="8454017" y="3922983"/>
            <a:ext cx="2711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Légère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baisse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CA</a:t>
            </a:r>
          </a:p>
        </p:txBody>
      </p:sp>
    </p:spTree>
    <p:extLst>
      <p:ext uri="{BB962C8B-B14F-4D97-AF65-F5344CB8AC3E}">
        <p14:creationId xmlns:p14="http://schemas.microsoft.com/office/powerpoint/2010/main" val="2260234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9391-1A72-780A-16C3-0BA3C7A4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3">
            <a:extLst>
              <a:ext uri="{FF2B5EF4-FFF2-40B4-BE49-F238E27FC236}">
                <a16:creationId xmlns:a16="http://schemas.microsoft.com/office/drawing/2014/main" id="{62CF0622-5FA7-E0FB-437F-F80E41EB8994}"/>
              </a:ext>
            </a:extLst>
          </p:cNvPr>
          <p:cNvSpPr/>
          <p:nvPr/>
        </p:nvSpPr>
        <p:spPr>
          <a:xfrm>
            <a:off x="8337185" y="4759658"/>
            <a:ext cx="2751364" cy="1412913"/>
          </a:xfrm>
          <a:prstGeom prst="roundRect">
            <a:avLst>
              <a:gd name="adj" fmla="val 427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/>
            <a:endParaRPr lang="en-US" dirty="0"/>
          </a:p>
        </p:txBody>
      </p:sp>
      <p:pic>
        <p:nvPicPr>
          <p:cNvPr id="9" name="Image 8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B77CDAAE-FA4D-5AA8-A6D8-C5A42EBEC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456"/>
            <a:ext cx="8220270" cy="6393544"/>
          </a:xfrm>
          <a:prstGeom prst="rect">
            <a:avLst/>
          </a:prstGeom>
        </p:spPr>
      </p:pic>
      <p:sp>
        <p:nvSpPr>
          <p:cNvPr id="37" name="Text 0">
            <a:extLst>
              <a:ext uri="{FF2B5EF4-FFF2-40B4-BE49-F238E27FC236}">
                <a16:creationId xmlns:a16="http://schemas.microsoft.com/office/drawing/2014/main" id="{AD3C3368-CDB7-16B5-08A3-6867895FCABB}"/>
              </a:ext>
            </a:extLst>
          </p:cNvPr>
          <p:cNvSpPr/>
          <p:nvPr/>
        </p:nvSpPr>
        <p:spPr>
          <a:xfrm>
            <a:off x="-1" y="0"/>
            <a:ext cx="12192001" cy="800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70A36D40-1C6A-8E34-907B-D0DE7E9E313C}"/>
              </a:ext>
            </a:extLst>
          </p:cNvPr>
          <p:cNvSpPr/>
          <p:nvPr/>
        </p:nvSpPr>
        <p:spPr>
          <a:xfrm>
            <a:off x="8341420" y="2955529"/>
            <a:ext cx="2747128" cy="1412913"/>
          </a:xfrm>
          <a:prstGeom prst="roundRect">
            <a:avLst>
              <a:gd name="adj" fmla="val 427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/>
            <a:endParaRPr lang="en-US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92F257E2-92A2-96F0-9836-DDED3544A1C4}"/>
              </a:ext>
            </a:extLst>
          </p:cNvPr>
          <p:cNvSpPr/>
          <p:nvPr/>
        </p:nvSpPr>
        <p:spPr>
          <a:xfrm>
            <a:off x="8341420" y="1221491"/>
            <a:ext cx="2747128" cy="1412912"/>
          </a:xfrm>
          <a:prstGeom prst="roundRect">
            <a:avLst>
              <a:gd name="adj" fmla="val 427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373F385-08A3-4055-703E-EDE39D0AA0E6}"/>
              </a:ext>
            </a:extLst>
          </p:cNvPr>
          <p:cNvSpPr txBox="1"/>
          <p:nvPr/>
        </p:nvSpPr>
        <p:spPr>
          <a:xfrm>
            <a:off x="-33835" y="130458"/>
            <a:ext cx="966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</a:rPr>
              <a:t>Évolution du ratio visites/ventes au cours du temps</a:t>
            </a: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0947FFD-3DA9-FAAD-6F1B-8002A902D198}"/>
              </a:ext>
            </a:extLst>
          </p:cNvPr>
          <p:cNvSpPr/>
          <p:nvPr/>
        </p:nvSpPr>
        <p:spPr>
          <a:xfrm>
            <a:off x="8876621" y="3298867"/>
            <a:ext cx="15072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x20</a:t>
            </a:r>
            <a:endParaRPr lang="en-US" sz="4500" dirty="0">
              <a:solidFill>
                <a:srgbClr val="FFC000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687FCDC-BF66-2294-CEC0-104F888B3DBA}"/>
              </a:ext>
            </a:extLst>
          </p:cNvPr>
          <p:cNvSpPr/>
          <p:nvPr/>
        </p:nvSpPr>
        <p:spPr>
          <a:xfrm>
            <a:off x="7672612" y="1321660"/>
            <a:ext cx="408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EAC219D5-DBE9-C196-7D51-5EED709DABED}"/>
              </a:ext>
            </a:extLst>
          </p:cNvPr>
          <p:cNvSpPr/>
          <p:nvPr/>
        </p:nvSpPr>
        <p:spPr>
          <a:xfrm>
            <a:off x="8893261" y="1687062"/>
            <a:ext cx="147398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</a:t>
            </a:r>
            <a:endParaRPr lang="en-US" sz="45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CA392827-7AE9-6D7E-9499-305F8EBBF153}"/>
              </a:ext>
            </a:extLst>
          </p:cNvPr>
          <p:cNvSpPr/>
          <p:nvPr/>
        </p:nvSpPr>
        <p:spPr>
          <a:xfrm>
            <a:off x="8169565" y="2366414"/>
            <a:ext cx="3086604" cy="156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13K → 520K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A64A1C5-CE6B-F17C-CADF-F1BD6A289D28}"/>
              </a:ext>
            </a:extLst>
          </p:cNvPr>
          <p:cNvSpPr/>
          <p:nvPr/>
        </p:nvSpPr>
        <p:spPr>
          <a:xfrm>
            <a:off x="7590001" y="3036774"/>
            <a:ext cx="408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1D52CF1A-B2C3-6C81-4C2F-585FFDBBC5A9}"/>
              </a:ext>
            </a:extLst>
          </p:cNvPr>
          <p:cNvSpPr/>
          <p:nvPr/>
        </p:nvSpPr>
        <p:spPr>
          <a:xfrm>
            <a:off x="8476641" y="5129977"/>
            <a:ext cx="19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45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↓ </a:t>
            </a:r>
            <a:r>
              <a:rPr lang="en-US" sz="45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50% </a:t>
            </a:r>
            <a:endParaRPr lang="en-US" sz="4500" dirty="0">
              <a:solidFill>
                <a:srgbClr val="FF0000"/>
              </a:solidFill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B73A98D-7C4A-0C45-EE42-5706ABFF99A3}"/>
              </a:ext>
            </a:extLst>
          </p:cNvPr>
          <p:cNvSpPr/>
          <p:nvPr/>
        </p:nvSpPr>
        <p:spPr>
          <a:xfrm>
            <a:off x="8401070" y="4874196"/>
            <a:ext cx="2593540" cy="31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-120"/>
              </a:rPr>
              <a:t>Manque à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-120"/>
              </a:rPr>
              <a:t>gagner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39988F08-D5F5-2AB8-D90E-E50821B06C47}"/>
              </a:ext>
            </a:extLst>
          </p:cNvPr>
          <p:cNvSpPr/>
          <p:nvPr/>
        </p:nvSpPr>
        <p:spPr>
          <a:xfrm>
            <a:off x="7672612" y="4079285"/>
            <a:ext cx="4080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1,5K → 30K ventes/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2151A5A2-AB56-9D7D-1BBD-CA62FB0EEB9E}"/>
              </a:ext>
            </a:extLst>
          </p:cNvPr>
          <p:cNvSpPr/>
          <p:nvPr/>
        </p:nvSpPr>
        <p:spPr>
          <a:xfrm>
            <a:off x="7672612" y="5898924"/>
            <a:ext cx="4080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~ 588K€ /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space réservé du numéro de diapositive 8">
            <a:extLst>
              <a:ext uri="{FF2B5EF4-FFF2-40B4-BE49-F238E27FC236}">
                <a16:creationId xmlns:a16="http://schemas.microsoft.com/office/drawing/2014/main" id="{C64C8003-3C11-AA57-D5CC-1FE2A27AE76F}"/>
              </a:ext>
            </a:extLst>
          </p:cNvPr>
          <p:cNvSpPr txBox="1">
            <a:spLocks/>
          </p:cNvSpPr>
          <p:nvPr/>
        </p:nvSpPr>
        <p:spPr>
          <a:xfrm>
            <a:off x="8610600" y="63999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834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24E2-267A-0DA9-0042-5565B104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BAFF653-DA6D-7D0A-1FD2-2FA8382C75D9}"/>
              </a:ext>
            </a:extLst>
          </p:cNvPr>
          <p:cNvSpPr/>
          <p:nvPr/>
        </p:nvSpPr>
        <p:spPr>
          <a:xfrm>
            <a:off x="8472425" y="4615838"/>
            <a:ext cx="2743201" cy="1437641"/>
          </a:xfrm>
          <a:prstGeom prst="roundRect">
            <a:avLst>
              <a:gd name="adj" fmla="val 2868"/>
            </a:avLst>
          </a:prstGeom>
          <a:solidFill>
            <a:srgbClr val="ECF0F1"/>
          </a:solidFill>
          <a:ln w="28575">
            <a:solidFill>
              <a:srgbClr val="D0007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A2A367A6-F6CE-19B7-EFD8-DEA3B8691BD9}"/>
              </a:ext>
            </a:extLst>
          </p:cNvPr>
          <p:cNvSpPr/>
          <p:nvPr/>
        </p:nvSpPr>
        <p:spPr>
          <a:xfrm>
            <a:off x="8449518" y="2891181"/>
            <a:ext cx="2743200" cy="1437641"/>
          </a:xfrm>
          <a:prstGeom prst="roundRect">
            <a:avLst>
              <a:gd name="adj" fmla="val 2868"/>
            </a:avLst>
          </a:prstGeom>
          <a:solidFill>
            <a:srgbClr val="ECF0F1"/>
          </a:solidFill>
          <a:ln w="28575">
            <a:solidFill>
              <a:srgbClr val="0070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0" descr="Une image contenant ligne, Tracé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DBC8789-D02C-744F-76DB-1E953A05E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571"/>
            <a:ext cx="8302406" cy="6457429"/>
          </a:xfrm>
          <a:prstGeom prst="rect">
            <a:avLst/>
          </a:prstGeom>
        </p:spPr>
      </p:pic>
      <p:sp>
        <p:nvSpPr>
          <p:cNvPr id="29" name="Text 0">
            <a:extLst>
              <a:ext uri="{FF2B5EF4-FFF2-40B4-BE49-F238E27FC236}">
                <a16:creationId xmlns:a16="http://schemas.microsoft.com/office/drawing/2014/main" id="{A1849036-930A-E57E-1209-BD287D217D60}"/>
              </a:ext>
            </a:extLst>
          </p:cNvPr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AFD3CBA-51CF-92FC-3B87-59AEAD0B5150}"/>
              </a:ext>
            </a:extLst>
          </p:cNvPr>
          <p:cNvSpPr txBox="1"/>
          <p:nvPr/>
        </p:nvSpPr>
        <p:spPr>
          <a:xfrm>
            <a:off x="81451" y="172999"/>
            <a:ext cx="11953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Taux de conversion du nombre de visites / nombre de ventes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A248CAF7-F077-9710-DCAF-3755B50BA063}"/>
              </a:ext>
            </a:extLst>
          </p:cNvPr>
          <p:cNvSpPr/>
          <p:nvPr/>
        </p:nvSpPr>
        <p:spPr>
          <a:xfrm>
            <a:off x="8472424" y="1190904"/>
            <a:ext cx="2743201" cy="1433086"/>
          </a:xfrm>
          <a:prstGeom prst="roundRect">
            <a:avLst>
              <a:gd name="adj" fmla="val 286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C37A9A16-EC8B-EC69-E03A-D422CCF1FC81}"/>
              </a:ext>
            </a:extLst>
          </p:cNvPr>
          <p:cNvSpPr/>
          <p:nvPr/>
        </p:nvSpPr>
        <p:spPr>
          <a:xfrm>
            <a:off x="8583000" y="1907744"/>
            <a:ext cx="2420803" cy="41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↓ 55%</a:t>
            </a:r>
            <a:endParaRPr lang="en-US" sz="4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384F649B-B750-409E-C5C7-7E594D4B0FE3}"/>
              </a:ext>
            </a:extLst>
          </p:cNvPr>
          <p:cNvSpPr/>
          <p:nvPr/>
        </p:nvSpPr>
        <p:spPr>
          <a:xfrm>
            <a:off x="8551652" y="1317399"/>
            <a:ext cx="2538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Conversion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11% à 5%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00"/>
              </a:lnSpc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CB74A77C-496A-5935-6A77-CC663EA9D6AE}"/>
              </a:ext>
            </a:extLst>
          </p:cNvPr>
          <p:cNvSpPr/>
          <p:nvPr/>
        </p:nvSpPr>
        <p:spPr>
          <a:xfrm>
            <a:off x="8529949" y="4753227"/>
            <a:ext cx="2590046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Octobre à Février </a:t>
            </a:r>
          </a:p>
          <a:p>
            <a:pPr marL="0" indent="0" algn="ctr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0" indent="0" algn="ctr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4C2EDC9-F740-F401-0F49-E03D3274ECCF}"/>
              </a:ext>
            </a:extLst>
          </p:cNvPr>
          <p:cNvSpPr/>
          <p:nvPr/>
        </p:nvSpPr>
        <p:spPr>
          <a:xfrm rot="2622750">
            <a:off x="4414819" y="4228431"/>
            <a:ext cx="3445419" cy="1088285"/>
          </a:xfrm>
          <a:prstGeom prst="ellipse">
            <a:avLst/>
          </a:prstGeom>
          <a:noFill/>
          <a:ln>
            <a:solidFill>
              <a:srgbClr val="D0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B7FCB60-AA35-9E3F-0969-8846F8D33DF7}"/>
              </a:ext>
            </a:extLst>
          </p:cNvPr>
          <p:cNvSpPr/>
          <p:nvPr/>
        </p:nvSpPr>
        <p:spPr>
          <a:xfrm rot="2622750">
            <a:off x="2971688" y="2273533"/>
            <a:ext cx="2155138" cy="103366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32651C-389F-2730-6E76-F3C45642CBCA}"/>
              </a:ext>
            </a:extLst>
          </p:cNvPr>
          <p:cNvSpPr txBox="1"/>
          <p:nvPr/>
        </p:nvSpPr>
        <p:spPr>
          <a:xfrm>
            <a:off x="8677923" y="2891181"/>
            <a:ext cx="220122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Juin à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Septembre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B39B45B-3002-F9C8-D8C2-8A95DAD91719}"/>
              </a:ext>
            </a:extLst>
          </p:cNvPr>
          <p:cNvSpPr txBox="1"/>
          <p:nvPr/>
        </p:nvSpPr>
        <p:spPr>
          <a:xfrm>
            <a:off x="8061782" y="5274343"/>
            <a:ext cx="3564484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x5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ctr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Visites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sur le site 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4B28CC5-A3AB-9287-6424-683146FE3FFA}"/>
              </a:ext>
            </a:extLst>
          </p:cNvPr>
          <p:cNvSpPr txBox="1"/>
          <p:nvPr/>
        </p:nvSpPr>
        <p:spPr>
          <a:xfrm>
            <a:off x="8610717" y="3210389"/>
            <a:ext cx="233564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le site  </a:t>
            </a:r>
          </a:p>
        </p:txBody>
      </p:sp>
      <p:sp>
        <p:nvSpPr>
          <p:cNvPr id="34" name="Espace réservé du numéro de diapositive 8">
            <a:extLst>
              <a:ext uri="{FF2B5EF4-FFF2-40B4-BE49-F238E27FC236}">
                <a16:creationId xmlns:a16="http://schemas.microsoft.com/office/drawing/2014/main" id="{AA1C6EE6-A205-A324-C836-FF837C5D5E01}"/>
              </a:ext>
            </a:extLst>
          </p:cNvPr>
          <p:cNvSpPr txBox="1">
            <a:spLocks/>
          </p:cNvSpPr>
          <p:nvPr/>
        </p:nvSpPr>
        <p:spPr>
          <a:xfrm>
            <a:off x="8610600" y="63999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2593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9F8A-7431-8689-5D21-78456963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4635B66B-9FE0-159E-6F59-A43A861CA5DB}"/>
              </a:ext>
            </a:extLst>
          </p:cNvPr>
          <p:cNvSpPr/>
          <p:nvPr/>
        </p:nvSpPr>
        <p:spPr>
          <a:xfrm>
            <a:off x="8276720" y="4550959"/>
            <a:ext cx="2649781" cy="1454479"/>
          </a:xfrm>
          <a:prstGeom prst="roundRect">
            <a:avLst>
              <a:gd name="adj" fmla="val 286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2DBDC87B-39CF-A5AD-F91A-0ECE7970E06E}"/>
              </a:ext>
            </a:extLst>
          </p:cNvPr>
          <p:cNvSpPr/>
          <p:nvPr/>
        </p:nvSpPr>
        <p:spPr>
          <a:xfrm>
            <a:off x="8276720" y="1243685"/>
            <a:ext cx="2649781" cy="1454479"/>
          </a:xfrm>
          <a:prstGeom prst="roundRect">
            <a:avLst>
              <a:gd name="adj" fmla="val 286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1CD728A-A218-FF63-103A-EAAFEF288088}"/>
              </a:ext>
            </a:extLst>
          </p:cNvPr>
          <p:cNvSpPr/>
          <p:nvPr/>
        </p:nvSpPr>
        <p:spPr>
          <a:xfrm>
            <a:off x="8276720" y="2886528"/>
            <a:ext cx="2649781" cy="1454479"/>
          </a:xfrm>
          <a:prstGeom prst="roundRect">
            <a:avLst>
              <a:gd name="adj" fmla="val 2868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14" descr="Une image contenant capture d’écran, visualisation&#10;&#10;Le contenu généré par l’IA peut être incorrect.">
            <a:extLst>
              <a:ext uri="{FF2B5EF4-FFF2-40B4-BE49-F238E27FC236}">
                <a16:creationId xmlns:a16="http://schemas.microsoft.com/office/drawing/2014/main" id="{ACF2D831-7FFB-0C79-AEF5-37665BCAC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97541"/>
            <a:ext cx="8177732" cy="6360459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0" y="2995"/>
            <a:ext cx="12192000" cy="80010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D18716C-3D87-3FF2-B667-A8B80B7F9EE7}"/>
              </a:ext>
            </a:extLst>
          </p:cNvPr>
          <p:cNvSpPr txBox="1"/>
          <p:nvPr/>
        </p:nvSpPr>
        <p:spPr>
          <a:xfrm>
            <a:off x="-830315" y="115224"/>
            <a:ext cx="14034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Montant des achats / temps passé sur le site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E4205FB-7063-DCF5-6A1E-1284ECF381A9}"/>
              </a:ext>
            </a:extLst>
          </p:cNvPr>
          <p:cNvSpPr txBox="1"/>
          <p:nvPr/>
        </p:nvSpPr>
        <p:spPr>
          <a:xfrm>
            <a:off x="8221659" y="1351680"/>
            <a:ext cx="275990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Corrélation positive </a:t>
            </a:r>
          </a:p>
          <a:p>
            <a:pPr algn="ctr"/>
            <a:endParaRPr lang="fr-FR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Temps passé sur site </a:t>
            </a:r>
          </a:p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montant du panier €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B5C6D39-6A7C-8629-BAB4-BA6936EA1059}"/>
              </a:ext>
            </a:extLst>
          </p:cNvPr>
          <p:cNvSpPr txBox="1"/>
          <p:nvPr/>
        </p:nvSpPr>
        <p:spPr>
          <a:xfrm>
            <a:off x="8444015" y="3510798"/>
            <a:ext cx="17974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sz="4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32%</a:t>
            </a:r>
            <a:endParaRPr lang="fr-FR" sz="4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52F6C53-67EF-BDF6-AF19-BFC3AACFA302}"/>
              </a:ext>
            </a:extLst>
          </p:cNvPr>
          <p:cNvSpPr txBox="1"/>
          <p:nvPr/>
        </p:nvSpPr>
        <p:spPr>
          <a:xfrm>
            <a:off x="8063069" y="2981394"/>
            <a:ext cx="30770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Panier moyen </a:t>
            </a:r>
          </a:p>
          <a:p>
            <a:pPr algn="ctr"/>
            <a:r>
              <a:rPr lang="fr-FR" alt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6min ~38€ / &gt;10min ~50€ </a:t>
            </a:r>
          </a:p>
          <a:p>
            <a:pPr algn="ctr"/>
            <a:endParaRPr lang="fr-FR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19FDD3-811B-A89C-C8EB-3D5C3758D5F7}"/>
              </a:ext>
            </a:extLst>
          </p:cNvPr>
          <p:cNvSpPr txBox="1"/>
          <p:nvPr/>
        </p:nvSpPr>
        <p:spPr>
          <a:xfrm>
            <a:off x="8415995" y="4634857"/>
            <a:ext cx="237122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Perte d’intérêt</a:t>
            </a:r>
          </a:p>
          <a:p>
            <a:pPr algn="ctr"/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Visiteurs sur site </a:t>
            </a:r>
          </a:p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&gt;10 minutes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08D7FBB-C478-77A8-A8FC-06ACC802527E}"/>
              </a:ext>
            </a:extLst>
          </p:cNvPr>
          <p:cNvSpPr txBox="1"/>
          <p:nvPr/>
        </p:nvSpPr>
        <p:spPr>
          <a:xfrm>
            <a:off x="9342727" y="3845886"/>
            <a:ext cx="1968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plus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187EFA14-0FE4-C619-A931-BD0BF92FC2FD}"/>
              </a:ext>
            </a:extLst>
          </p:cNvPr>
          <p:cNvSpPr txBox="1">
            <a:spLocks/>
          </p:cNvSpPr>
          <p:nvPr/>
        </p:nvSpPr>
        <p:spPr>
          <a:xfrm>
            <a:off x="8610600" y="63999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3831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diagramme, capture d’écran, Rectangle&#10;&#10;Le contenu généré par l’IA peut être incorrect.">
            <a:extLst>
              <a:ext uri="{FF2B5EF4-FFF2-40B4-BE49-F238E27FC236}">
                <a16:creationId xmlns:a16="http://schemas.microsoft.com/office/drawing/2014/main" id="{DD2F993A-3977-7D46-9353-177B8B04B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663"/>
            <a:ext cx="8437502" cy="6562501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B6EC2D0-8424-9F08-AC8D-76E72956DFB2}"/>
              </a:ext>
            </a:extLst>
          </p:cNvPr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679744-E8D4-9AE2-D66A-F2C2E5B88FC9}"/>
              </a:ext>
            </a:extLst>
          </p:cNvPr>
          <p:cNvSpPr txBox="1"/>
          <p:nvPr/>
        </p:nvSpPr>
        <p:spPr>
          <a:xfrm>
            <a:off x="-379613" y="153323"/>
            <a:ext cx="1318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Comportement client du temps passé sur site </a:t>
            </a:r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(pour sessions avec achat)</a:t>
            </a:r>
            <a:endParaRPr lang="fr-FR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FB9CA07-2AE2-22FA-03E3-13B765162E66}"/>
              </a:ext>
            </a:extLst>
          </p:cNvPr>
          <p:cNvSpPr/>
          <p:nvPr/>
        </p:nvSpPr>
        <p:spPr>
          <a:xfrm>
            <a:off x="8514083" y="4578193"/>
            <a:ext cx="2528165" cy="1472867"/>
          </a:xfrm>
          <a:prstGeom prst="roundRect">
            <a:avLst>
              <a:gd name="adj" fmla="val 5064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3258782-7665-C1B4-6649-EFBC55237C03}"/>
              </a:ext>
            </a:extLst>
          </p:cNvPr>
          <p:cNvSpPr/>
          <p:nvPr/>
        </p:nvSpPr>
        <p:spPr>
          <a:xfrm>
            <a:off x="8639559" y="4692543"/>
            <a:ext cx="2284013" cy="217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Ecart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interquartile 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F008127-2307-64E5-3C4B-B8939ECA50F1}"/>
              </a:ext>
            </a:extLst>
          </p:cNvPr>
          <p:cNvSpPr/>
          <p:nvPr/>
        </p:nvSpPr>
        <p:spPr>
          <a:xfrm>
            <a:off x="9024887" y="5167698"/>
            <a:ext cx="149907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E74C3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x7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6FD522D-F701-C3DE-AC51-090014DFC8B1}"/>
              </a:ext>
            </a:extLst>
          </p:cNvPr>
          <p:cNvSpPr/>
          <p:nvPr/>
        </p:nvSpPr>
        <p:spPr>
          <a:xfrm>
            <a:off x="8435565" y="1077216"/>
            <a:ext cx="2606684" cy="1472868"/>
          </a:xfrm>
          <a:prstGeom prst="roundRect">
            <a:avLst>
              <a:gd name="adj" fmla="val 5161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2139E08-39A7-55A2-FE2F-C8F24CDC323D}"/>
              </a:ext>
            </a:extLst>
          </p:cNvPr>
          <p:cNvSpPr/>
          <p:nvPr/>
        </p:nvSpPr>
        <p:spPr>
          <a:xfrm>
            <a:off x="8281978" y="1184728"/>
            <a:ext cx="2992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Temps median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(-1min)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A080AB6-CBB2-168D-349C-2B0C3EF8CBF8}"/>
              </a:ext>
            </a:extLst>
          </p:cNvPr>
          <p:cNvSpPr/>
          <p:nvPr/>
        </p:nvSpPr>
        <p:spPr>
          <a:xfrm>
            <a:off x="8165927" y="1421889"/>
            <a:ext cx="2992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 min à 6 min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8E92E525-FE7B-62A7-5AF1-950D395E11CD}"/>
              </a:ext>
            </a:extLst>
          </p:cNvPr>
          <p:cNvSpPr/>
          <p:nvPr/>
        </p:nvSpPr>
        <p:spPr>
          <a:xfrm>
            <a:off x="8776289" y="2119899"/>
            <a:ext cx="1771650" cy="39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E74C3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-14%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0106DBE-6759-6609-7F4F-028942995ACB}"/>
              </a:ext>
            </a:extLst>
          </p:cNvPr>
          <p:cNvSpPr/>
          <p:nvPr/>
        </p:nvSpPr>
        <p:spPr>
          <a:xfrm>
            <a:off x="11697494" y="2263276"/>
            <a:ext cx="2992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089BD65D-C165-BFDE-D651-4D70B78A6C02}"/>
              </a:ext>
            </a:extLst>
          </p:cNvPr>
          <p:cNvSpPr/>
          <p:nvPr/>
        </p:nvSpPr>
        <p:spPr>
          <a:xfrm>
            <a:off x="8352564" y="4972678"/>
            <a:ext cx="2858005" cy="27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de 1 min à + de 5 min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8F2DB63-7393-3A6E-845A-6CC3C49F9911}"/>
              </a:ext>
            </a:extLst>
          </p:cNvPr>
          <p:cNvSpPr/>
          <p:nvPr/>
        </p:nvSpPr>
        <p:spPr>
          <a:xfrm>
            <a:off x="8481167" y="2827200"/>
            <a:ext cx="2561081" cy="1472867"/>
          </a:xfrm>
          <a:prstGeom prst="roundRect">
            <a:avLst>
              <a:gd name="adj" fmla="val 5064"/>
            </a:avLst>
          </a:prstGeom>
          <a:solidFill>
            <a:srgbClr val="ECF0F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D7F12F8-239D-3BCB-19C9-6437D9E17EB7}"/>
              </a:ext>
            </a:extLst>
          </p:cNvPr>
          <p:cNvSpPr/>
          <p:nvPr/>
        </p:nvSpPr>
        <p:spPr>
          <a:xfrm>
            <a:off x="8010479" y="2926544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Variabilité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189917-E387-BD63-0605-66F263C5E2F1}"/>
              </a:ext>
            </a:extLst>
          </p:cNvPr>
          <p:cNvSpPr/>
          <p:nvPr/>
        </p:nvSpPr>
        <p:spPr>
          <a:xfrm>
            <a:off x="9085419" y="3456496"/>
            <a:ext cx="1306975" cy="79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E74C3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x3,5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300172F-1F0D-CCA8-59F1-B080CD1AADCE}"/>
              </a:ext>
            </a:extLst>
          </p:cNvPr>
          <p:cNvSpPr/>
          <p:nvPr/>
        </p:nvSpPr>
        <p:spPr>
          <a:xfrm>
            <a:off x="9013625" y="3485754"/>
            <a:ext cx="2992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ECD59A1-6CA9-F5DF-31FA-4F20694690C9}"/>
              </a:ext>
            </a:extLst>
          </p:cNvPr>
          <p:cNvSpPr/>
          <p:nvPr/>
        </p:nvSpPr>
        <p:spPr>
          <a:xfrm>
            <a:off x="8233111" y="3183937"/>
            <a:ext cx="2858005" cy="27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0,4 min à 2 min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space réservé du numéro de diapositive 8">
            <a:extLst>
              <a:ext uri="{FF2B5EF4-FFF2-40B4-BE49-F238E27FC236}">
                <a16:creationId xmlns:a16="http://schemas.microsoft.com/office/drawing/2014/main" id="{9505F064-D509-254B-F6B9-6267BC56F943}"/>
              </a:ext>
            </a:extLst>
          </p:cNvPr>
          <p:cNvSpPr txBox="1">
            <a:spLocks/>
          </p:cNvSpPr>
          <p:nvPr/>
        </p:nvSpPr>
        <p:spPr>
          <a:xfrm>
            <a:off x="8610600" y="63999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7925917"/>
      </p:ext>
    </p:extLst>
  </p:cSld>
  <p:clrMapOvr>
    <a:masterClrMapping/>
  </p:clrMapOvr>
</p:sld>
</file>

<file path=ppt/theme/theme1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5433</TotalTime>
  <Words>302</Words>
  <Application>Microsoft Office PowerPoint</Application>
  <PresentationFormat>Grand écran</PresentationFormat>
  <Paragraphs>72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2_Conception personnalisée</vt:lpstr>
      <vt:lpstr>1_Conception personnalisée</vt:lpstr>
      <vt:lpstr>1_Thème Office</vt:lpstr>
      <vt:lpstr>2_Thème Office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ELICES-DIEZ</dc:creator>
  <cp:lastModifiedBy>xavier ELICES-DIEZ</cp:lastModifiedBy>
  <cp:revision>4</cp:revision>
  <dcterms:created xsi:type="dcterms:W3CDTF">2025-10-21T10:33:12Z</dcterms:created>
  <dcterms:modified xsi:type="dcterms:W3CDTF">2025-10-31T14:52:52Z</dcterms:modified>
</cp:coreProperties>
</file>